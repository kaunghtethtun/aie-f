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Semi-Bold" charset="1" panose="02000503000000020004"/>
      <p:regular r:id="rId21"/>
    </p:embeddedFont>
    <p:embeddedFont>
      <p:font typeface="Inter Light" charset="1" panose="02000503000000020004"/>
      <p:regular r:id="rId22"/>
    </p:embeddedFont>
    <p:embeddedFont>
      <p:font typeface="Inter" charset="1" panose="020B050203000000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33335" y="2165776"/>
            <a:ext cx="10730064" cy="5955448"/>
            <a:chOff x="0" y="0"/>
            <a:chExt cx="3845413" cy="2134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34298"/>
            </a:xfrm>
            <a:custGeom>
              <a:avLst/>
              <a:gdLst/>
              <a:ahLst/>
              <a:cxnLst/>
              <a:rect r="r" b="b" t="t" l="l"/>
              <a:pathLst>
                <a:path h="213429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47646" y="4443307"/>
            <a:ext cx="7553325" cy="192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b="true" sz="8499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HYBRID-ELIZA-MM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47646" y="6420908"/>
            <a:ext cx="6213575" cy="62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GROUP-3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190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06330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252432"/>
            <a:ext cx="3635941" cy="480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MEMBERS</a:t>
            </a:r>
          </a:p>
          <a:p>
            <a:pPr algn="l">
              <a:lnSpc>
                <a:spcPts val="3214"/>
              </a:lnSpc>
            </a:pP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PHYO HEIN HLAING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THEIN KYAW LWIN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MYO MYINT KYAW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WINE HTET HEIN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NANDAR LAMIN AYE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LIN HTET PAING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KAUNG HTET LYNN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THINN THINN HTET SU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MON AUNG MYA</a:t>
            </a:r>
          </a:p>
          <a:p>
            <a:pPr algn="l" marL="495759" indent="-247880" lvl="1">
              <a:lnSpc>
                <a:spcPts val="3214"/>
              </a:lnSpc>
              <a:buFont typeface="Arial"/>
              <a:buChar char="•"/>
            </a:pPr>
            <a:r>
              <a:rPr lang="en-US" sz="2296" spc="-9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MJECHAL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238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12093" y="2901595"/>
            <a:ext cx="14201035" cy="625250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06330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775900"/>
            <a:ext cx="7959169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DATA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513" y="3175060"/>
            <a:ext cx="600060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QUANTITY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0238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3093500"/>
            <a:ext cx="7963931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28700" y="8330590"/>
            <a:ext cx="1522385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028700" y="3794503"/>
            <a:ext cx="7959169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653131" y="2318731"/>
            <a:ext cx="10730064" cy="5649539"/>
            <a:chOff x="0" y="0"/>
            <a:chExt cx="3845413" cy="202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2024667"/>
            </a:xfrm>
            <a:custGeom>
              <a:avLst/>
              <a:gdLst/>
              <a:ahLst/>
              <a:cxnLst/>
              <a:rect r="r" b="b" t="t" l="l"/>
              <a:pathLst>
                <a:path h="2024667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024667"/>
                  </a:lnTo>
                  <a:lnTo>
                    <a:pt x="0" y="2024667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207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90600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48843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95003" y="8948843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72005" y="990600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763623"/>
            <a:ext cx="9594056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Preprocessing For Training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539808"/>
            <a:ext cx="3161665" cy="24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zawgy</a:t>
            </a: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 to unicode transform လုပ်ပါတယ် [myanmartools, rabbit]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Url or link remove လုပ်ပါတယ်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Emoji တွေပါလာရင် remove လုပ်ပါတယ် [emoji]</a:t>
            </a:r>
          </a:p>
          <a:p>
            <a:pPr algn="l">
              <a:lnSpc>
                <a:spcPts val="22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911614" y="3539808"/>
            <a:ext cx="3161665" cy="24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pecial charcter ကို remove လုပ်ပါတယ် [string]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English words တွေ numbers တွေကို remove လုပ်ပါတယ်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Words ကို segmentation ပိုင်းပါတယ် [icu]</a:t>
            </a:r>
          </a:p>
          <a:p>
            <a:pPr algn="l">
              <a:lnSpc>
                <a:spcPts val="22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794528" y="3539808"/>
            <a:ext cx="3161665" cy="24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စာကြောင်းတစ်ကြောင်းထဲမှာပါနေတဲ့</a:t>
            </a: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duplicated words တွေကို remove လုပ်ပြီး တစ်လုံးထဲပြန်ယူပါတယ်</a:t>
            </a:r>
          </a:p>
          <a:p>
            <a:pPr algn="l">
              <a:lnSpc>
                <a:spcPts val="2240"/>
              </a:lnSpc>
            </a:pP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-35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စစ်ထားပြီးသား data တွေမှာ duplicated row တွေကို remove လုပ်ပါတယ် [pandas]</a:t>
            </a:r>
          </a:p>
          <a:p>
            <a:pPr algn="l">
              <a:lnSpc>
                <a:spcPts val="2240"/>
              </a:lnSpc>
            </a:pPr>
          </a:p>
        </p:txBody>
      </p:sp>
      <p:sp>
        <p:nvSpPr>
          <p:cNvPr name="AutoShape 17" id="17"/>
          <p:cNvSpPr/>
          <p:nvPr/>
        </p:nvSpPr>
        <p:spPr>
          <a:xfrm flipV="true">
            <a:off x="1028700" y="2703106"/>
            <a:ext cx="10927493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719203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008450" y="2646610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06201" y="3443000"/>
            <a:ext cx="11485097" cy="4594039"/>
          </a:xfrm>
          <a:custGeom>
            <a:avLst/>
            <a:gdLst/>
            <a:ahLst/>
            <a:cxnLst/>
            <a:rect r="r" b="b" t="t" l="l"/>
            <a:pathLst>
              <a:path h="4594039" w="11485097">
                <a:moveTo>
                  <a:pt x="0" y="0"/>
                </a:moveTo>
                <a:lnTo>
                  <a:pt x="11485097" y="0"/>
                </a:lnTo>
                <a:lnTo>
                  <a:pt x="11485097" y="4594039"/>
                </a:lnTo>
                <a:lnTo>
                  <a:pt x="0" y="4594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999" r="0" b="-50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9129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8450" y="993352"/>
            <a:ext cx="22434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08450" y="1775900"/>
            <a:ext cx="10526122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Calculating Rank</a:t>
            </a: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For Rule Based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0215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7646" y="1768999"/>
            <a:ext cx="9500737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Performance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9821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AutoShape 9" id="9"/>
          <p:cNvSpPr/>
          <p:nvPr/>
        </p:nvSpPr>
        <p:spPr>
          <a:xfrm>
            <a:off x="6743474" y="3337131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763868" y="4019104"/>
          <a:ext cx="9500737" cy="4619798"/>
        </p:xfrm>
        <a:graphic>
          <a:graphicData uri="http://schemas.openxmlformats.org/drawingml/2006/table">
            <a:tbl>
              <a:tblPr/>
              <a:tblGrid>
                <a:gridCol w="4750368"/>
                <a:gridCol w="4750368"/>
              </a:tblGrid>
              <a:tr h="88096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 strike="noStrike" u="none">
                          <a:solidFill>
                            <a:srgbClr val="F6F5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E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F6F5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r>
                        <a:rPr lang="en-US" sz="1599" spc="-35">
                          <a:solidFill>
                            <a:srgbClr val="F6F5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SCORE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E3E"/>
                    </a:solidFill>
                  </a:tcPr>
                </a:tc>
              </a:tr>
              <a:tr h="88096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Ep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chs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10,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ing Rate 0.003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.7764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88096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ochs 10, L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arn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 Rate 0.002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.7496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88096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Epo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 10, Lea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nin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 Rate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0.001,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drop out 0.2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10959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Epochs 10, Lear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nin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0.002,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drop out 0.2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0.76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r>
                        <a:rPr lang="en-US" sz="1599" spc="-35" strike="noStrike" u="none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lang="en-US" sz="1100"/>
                    </a:p>
                  </a:txBody>
                  <a:tcPr marL="86990" marR="86990" marT="86990" marB="86990" anchor="ctr">
                    <a:lnL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5400000">
            <a:off x="-2830683" y="2363124"/>
            <a:ext cx="10730064" cy="5560752"/>
            <a:chOff x="0" y="0"/>
            <a:chExt cx="3845413" cy="19928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45413" cy="1992848"/>
            </a:xfrm>
            <a:custGeom>
              <a:avLst/>
              <a:gdLst/>
              <a:ahLst/>
              <a:cxnLst/>
              <a:rect r="r" b="b" t="t" l="l"/>
              <a:pathLst>
                <a:path h="199284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992848"/>
                  </a:lnTo>
                  <a:lnTo>
                    <a:pt x="0" y="199284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845413" cy="204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35544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5544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840534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129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8450" y="993352"/>
            <a:ext cx="22434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8450" y="2857500"/>
            <a:ext cx="69651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EPOCHS 10, LEARNING RATE 0.003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4008450" y="3993164"/>
          <a:ext cx="12245294" cy="5487559"/>
        </p:xfrm>
        <a:graphic>
          <a:graphicData uri="http://schemas.openxmlformats.org/drawingml/2006/table">
            <a:tbl>
              <a:tblPr/>
              <a:tblGrid>
                <a:gridCol w="6485338"/>
                <a:gridCol w="2423741"/>
                <a:gridCol w="2003826"/>
                <a:gridCol w="1332389"/>
              </a:tblGrid>
              <a:tr h="6596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668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Sadness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0.7764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0.8090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0.8182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0.6747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0.6588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0.6667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Love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0.7549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0.7333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0.7440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0.8415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0.8519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0.8466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0.8000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0.9072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0.8502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Surprise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0.7579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0.7059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0.7310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7476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0.7764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008450" y="1775900"/>
            <a:ext cx="9133740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Classification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008450" y="3512151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95885" y="1812302"/>
            <a:ext cx="7401355" cy="6662397"/>
          </a:xfrm>
          <a:custGeom>
            <a:avLst/>
            <a:gdLst/>
            <a:ahLst/>
            <a:cxnLst/>
            <a:rect r="r" b="b" t="t" l="l"/>
            <a:pathLst>
              <a:path h="6662397" w="7401355">
                <a:moveTo>
                  <a:pt x="0" y="0"/>
                </a:moveTo>
                <a:lnTo>
                  <a:pt x="7401355" y="0"/>
                </a:lnTo>
                <a:lnTo>
                  <a:pt x="7401355" y="6662396"/>
                </a:lnTo>
                <a:lnTo>
                  <a:pt x="0" y="6662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2" t="0" r="-12" b="-93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0215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821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544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544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129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8450" y="993352"/>
            <a:ext cx="22434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8450" y="2857500"/>
            <a:ext cx="69651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EPOCHS 10, LEARNING RATE 0.002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4008450" y="3993164"/>
          <a:ext cx="12245294" cy="5487559"/>
        </p:xfrm>
        <a:graphic>
          <a:graphicData uri="http://schemas.openxmlformats.org/drawingml/2006/table">
            <a:tbl>
              <a:tblPr/>
              <a:tblGrid>
                <a:gridCol w="6485338"/>
                <a:gridCol w="2423741"/>
                <a:gridCol w="2003826"/>
                <a:gridCol w="1332389"/>
              </a:tblGrid>
              <a:tr h="6596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668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Sadness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0.8171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0.7528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0.7836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0.6623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0.6000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0.6296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Love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0.7037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0.7238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0.7136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0.8250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0.8148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0.8199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0.8000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0.8660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0.8317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Surprise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0.7009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0.7353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0.7177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7476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0.7496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008450" y="1775900"/>
            <a:ext cx="9133740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Classification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008450" y="3512151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39327" y="1966668"/>
            <a:ext cx="7314471" cy="6602336"/>
          </a:xfrm>
          <a:custGeom>
            <a:avLst/>
            <a:gdLst/>
            <a:ahLst/>
            <a:cxnLst/>
            <a:rect r="r" b="b" t="t" l="l"/>
            <a:pathLst>
              <a:path h="6602336" w="7314471">
                <a:moveTo>
                  <a:pt x="0" y="0"/>
                </a:moveTo>
                <a:lnTo>
                  <a:pt x="7314470" y="0"/>
                </a:lnTo>
                <a:lnTo>
                  <a:pt x="7314470" y="6602335"/>
                </a:lnTo>
                <a:lnTo>
                  <a:pt x="0" y="660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0215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821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544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544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ESENTATION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129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8450" y="993352"/>
            <a:ext cx="22434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8450" y="2857500"/>
            <a:ext cx="78148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EPOCHS 10, LEARNING RATE 0.001,</a:t>
            </a: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 DROP OUT 0.2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4008450" y="3993164"/>
          <a:ext cx="12536240" cy="5487559"/>
        </p:xfrm>
        <a:graphic>
          <a:graphicData uri="http://schemas.openxmlformats.org/drawingml/2006/table">
            <a:tbl>
              <a:tblPr/>
              <a:tblGrid>
                <a:gridCol w="6485238"/>
                <a:gridCol w="2423704"/>
                <a:gridCol w="2003795"/>
                <a:gridCol w="1623504"/>
              </a:tblGrid>
              <a:tr h="6596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668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Sadness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0.8434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0.7865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0.8140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0.6180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0.6471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0.6322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Love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0.7500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0.6571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0.7005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0.8571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0.8148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0.8354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0.8113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0.8866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0.8473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Surprise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0.6964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0.7647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0.7290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7476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0.7585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008450" y="1775900"/>
            <a:ext cx="9133740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Classification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008450" y="3512151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39327" y="1966668"/>
            <a:ext cx="7314471" cy="6602336"/>
          </a:xfrm>
          <a:custGeom>
            <a:avLst/>
            <a:gdLst/>
            <a:ahLst/>
            <a:cxnLst/>
            <a:rect r="r" b="b" t="t" l="l"/>
            <a:pathLst>
              <a:path h="6602336" w="7314471">
                <a:moveTo>
                  <a:pt x="0" y="0"/>
                </a:moveTo>
                <a:lnTo>
                  <a:pt x="7314470" y="0"/>
                </a:lnTo>
                <a:lnTo>
                  <a:pt x="7314470" y="6602335"/>
                </a:lnTo>
                <a:lnTo>
                  <a:pt x="0" y="660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" t="0" r="-4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0215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821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544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544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ESENTATION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129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8450" y="993352"/>
            <a:ext cx="22434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8450" y="2857500"/>
            <a:ext cx="78148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EPOCHS 10, LEARNING RATE 0.002,</a:t>
            </a:r>
            <a:r>
              <a:rPr lang="en-US" sz="2799" spc="-20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 DROP OUT 0.2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4008450" y="3993164"/>
          <a:ext cx="12577803" cy="5487559"/>
        </p:xfrm>
        <a:graphic>
          <a:graphicData uri="http://schemas.openxmlformats.org/drawingml/2006/table">
            <a:tbl>
              <a:tblPr/>
              <a:tblGrid>
                <a:gridCol w="6485224"/>
                <a:gridCol w="2423698"/>
                <a:gridCol w="2003790"/>
                <a:gridCol w="1665091"/>
              </a:tblGrid>
              <a:tr h="6596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</a:tr>
              <a:tr h="668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Sadness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0.7865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0.7865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0.7865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0.6500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0.6118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0.6303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Love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0.7383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0.7524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0.7453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0.7738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0.8025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0.7879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74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0.8318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0.9175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0.8725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694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Surprise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0.7717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0.6961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0.7320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  <a:tr h="7476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spc="-35">
                          <a:solidFill>
                            <a:srgbClr val="403E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0.7621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89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008450" y="1775900"/>
            <a:ext cx="9133740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Classification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008450" y="3512151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39327" y="1966668"/>
            <a:ext cx="7314471" cy="6602336"/>
          </a:xfrm>
          <a:custGeom>
            <a:avLst/>
            <a:gdLst/>
            <a:ahLst/>
            <a:cxnLst/>
            <a:rect r="r" b="b" t="t" l="l"/>
            <a:pathLst>
              <a:path h="6602336" w="7314471">
                <a:moveTo>
                  <a:pt x="0" y="0"/>
                </a:moveTo>
                <a:lnTo>
                  <a:pt x="7314470" y="0"/>
                </a:lnTo>
                <a:lnTo>
                  <a:pt x="7314470" y="6602335"/>
                </a:lnTo>
                <a:lnTo>
                  <a:pt x="0" y="660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" t="0" r="-4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0215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821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544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544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ESENTATION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008450" y="2646610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06201" y="3443000"/>
            <a:ext cx="11485097" cy="4594039"/>
          </a:xfrm>
          <a:custGeom>
            <a:avLst/>
            <a:gdLst/>
            <a:ahLst/>
            <a:cxnLst/>
            <a:rect r="r" b="b" t="t" l="l"/>
            <a:pathLst>
              <a:path h="4594039" w="11485097">
                <a:moveTo>
                  <a:pt x="0" y="0"/>
                </a:moveTo>
                <a:lnTo>
                  <a:pt x="11485097" y="0"/>
                </a:lnTo>
                <a:lnTo>
                  <a:pt x="11485097" y="4594039"/>
                </a:lnTo>
                <a:lnTo>
                  <a:pt x="0" y="4594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91298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8450" y="993352"/>
            <a:ext cx="22434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08450" y="1775900"/>
            <a:ext cx="9133740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15981" y="4693231"/>
            <a:ext cx="9161161" cy="123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62"/>
              </a:lnSpc>
            </a:pPr>
            <a:r>
              <a:rPr lang="en-US" b="true" sz="10309" spc="-773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THANKYOU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PRESENTED BY GROUP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06330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9153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22/03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DAHElNFeWGc</dc:identifier>
  <dcterms:modified xsi:type="dcterms:W3CDTF">2011-08-01T06:04:30Z</dcterms:modified>
  <cp:revision>1</cp:revision>
  <dc:title>Group 3 Presentation Slides</dc:title>
</cp:coreProperties>
</file>